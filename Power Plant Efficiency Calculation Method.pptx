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8" r:id="rId3"/>
    <p:sldId id="256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9"/>
    <p:restoredTop sz="94710"/>
  </p:normalViewPr>
  <p:slideViewPr>
    <p:cSldViewPr snapToGrid="0">
      <p:cViewPr varScale="1">
        <p:scale>
          <a:sx n="142" d="100"/>
          <a:sy n="142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E4DCF-3A6F-AC47-9A87-4DB8B9E71710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0D208-34D2-6C48-86D7-D75B65FD2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5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0D208-34D2-6C48-86D7-D75B65FD26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18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6CEEF-8BCB-7F7A-D8D6-79122A583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5494B-DB1F-0526-9A0A-E8E37459E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8D944-E80B-D856-B041-9CB71E7E4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B6601-13C9-31F8-7567-B824F7F8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AFD8-15FA-6324-A27F-850827F6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2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3490-B248-C5E5-CC76-F6AB297D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54180-3750-EE49-68D9-0ED40B3B2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299EB-FBF7-A577-7750-3A1C08DD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1599E-B33C-6E0A-55E9-7D409BCD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F3FAE-73A5-ACA7-FA19-CFC8B4B9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60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33326-5AC5-4B76-CC47-BDCA08AE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A0C77-4CA9-6351-5846-73F549ADF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6C417-3824-3731-0A07-DD0C282C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14ACA-4438-7B94-F96A-C441B47D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E117-50E0-8372-1665-38204241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8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52C7-36D3-7204-5C6D-C3E73EA7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70216-FD63-5F17-D8ED-E88E1991E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0FB71-CF58-08C7-BF34-634B1AE8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F7026-4158-17A2-3961-F60C7714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01BBB-FFF9-3A3B-F72E-A28D3F05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67F39-4996-F82C-C6B3-E372A1B9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19DC-A8DC-742C-6184-1E841DF0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1FDE9-F2C7-7343-957C-952806EA0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AF91A-C5EF-445B-BA23-704D778F4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8B08E-7D74-16C1-3931-2081D177A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A30FC-04B7-232C-6664-81297BC15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55A90-7612-B20A-3BFC-2F7BCD84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35E3FA-F76C-B4AB-9659-5334C6AF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78DA3-3C0E-5CD6-5A61-8A1E2722E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797A-82AD-8DE4-732D-791BCAF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41D20E-859B-79FF-EED5-F62CEE469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50F79-3479-7948-0FC7-5822C938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B9AD0-CD03-3E1D-F4A4-B0DC0983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0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B061F-2665-B899-36BE-4D1572A2D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153796-3EBF-DD14-6F54-48374682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DA12-6F32-FADE-913C-D320D97A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6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FBEE-D6B8-2440-CDBA-2AA61936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D8595-D140-2FB7-0439-2E91D4A57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A83574-1FDC-1FD2-C6FE-753ADA2B8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F3BF5-064C-47AA-3176-D6F54704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C14BD-3AD3-2BF9-73AF-9EF84405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03014-3056-55C4-2400-BEEA090B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4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3CA0-7BDF-A78A-B5A1-42D951E8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E095F8-C62A-FE76-F14C-F55D958F9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EAC09-0CC0-5DD3-80AB-FC9AF3D8E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0201-1889-B99E-9113-93E55736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66531-F652-2A4B-6C1D-9EAAF830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9D0A1-D591-DC76-3802-FE7A97C7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9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743A-EFA0-DE13-0D33-C6AD93B9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F59B9C-BFFE-A92E-ABB4-7988E586F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9AA3-0113-7A36-0595-929A12ED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75806-4191-D44A-E42A-D5850634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085AA-A28B-13E3-3D13-79C86B3D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5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F957F-1BE8-FA37-5A77-782497EC1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1CC43-36B0-D3C2-3F2D-7E4EE6F52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236D3-7F07-CAF8-017B-861C53D9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537E-5889-7AB6-4FE4-F6705814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14F01-243C-6277-81A0-27E51734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FEF1-733D-FFFB-6716-3ACCD0938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A5A0C-CE2C-4FF9-B604-DEBECD691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77309-0469-D198-4A22-EAE747AD1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BA7A8-C758-EF4C-92CB-01E178A85BF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CAE4F-3986-5C1D-0394-A6570709D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76A6-C66A-4EF2-AD24-06A799825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03432-6243-FC4F-87D8-6DAA40DEE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52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9D4492-E325-7A72-906C-BF7FCA95E144}"/>
              </a:ext>
            </a:extLst>
          </p:cNvPr>
          <p:cNvSpPr txBox="1"/>
          <p:nvPr/>
        </p:nvSpPr>
        <p:spPr>
          <a:xfrm>
            <a:off x="0" y="996661"/>
            <a:ext cx="12192000" cy="392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7938" algn="just">
              <a:lnSpc>
                <a:spcPct val="107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Title: Power Plant Efficiency Prediction Using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MrMiMaxG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Feature Engineering and Consensus Voting Mechanism</a:t>
            </a:r>
          </a:p>
          <a:p>
            <a:pPr indent="7938" algn="just">
              <a:lnSpc>
                <a:spcPct val="107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indent="7938" algn="just">
              <a:lnSpc>
                <a:spcPct val="107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Power plant efficiency, specifically in Coal-Fired Power Plants (PLTU), indicates how effectively the plant converts fuel energy into electrical energy, which is generally determined by Boiler Efficiency and Net Plant Heat Rate (NPHR).</a:t>
            </a:r>
          </a:p>
          <a:p>
            <a:pPr indent="7938" algn="just">
              <a:lnSpc>
                <a:spcPct val="107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indent="7938" algn="just">
              <a:lnSpc>
                <a:spcPct val="107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Boiler Efficiency can be analogized to the State of Health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SoH</a:t>
            </a: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of a battery, which represents the battery's capability or remaining capacity to store and discharge electrical energy. In this analogy, coal acts as the primary fuel supplier, similar to the energy stored within a battery.</a:t>
            </a:r>
          </a:p>
          <a:p>
            <a:pPr indent="7938" algn="just">
              <a:lnSpc>
                <a:spcPct val="107000"/>
              </a:lnSpc>
            </a:pPr>
            <a:endParaRPr lang="en-US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indent="7938" algn="just">
              <a:lnSpc>
                <a:spcPct val="107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Meanwhile, the driving range (in km) of an electric car or motorcycle is determined by the battery's capacity and its ability to power the motor. The fewer kilowatt-hours (kWh) or Ampere-hours (Ah) consumed to travel 1 km, the better the vehicle's efficiency. This ratio of travel distance efficiency to battery capacity consumed is analogous to the Net Plant Heat Rate (NPHR) value in a coal-fired power plant.</a:t>
            </a:r>
            <a:endParaRPr lang="en-ID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345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1D58BD-F86F-7E95-047F-C26D68D991DC}"/>
              </a:ext>
            </a:extLst>
          </p:cNvPr>
          <p:cNvSpPr/>
          <p:nvPr/>
        </p:nvSpPr>
        <p:spPr>
          <a:xfrm>
            <a:off x="1454170" y="2893670"/>
            <a:ext cx="601883" cy="1122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A073F-20A5-F85C-84D5-8A9C3C7FB595}"/>
              </a:ext>
            </a:extLst>
          </p:cNvPr>
          <p:cNvSpPr/>
          <p:nvPr/>
        </p:nvSpPr>
        <p:spPr>
          <a:xfrm>
            <a:off x="2575291" y="2893670"/>
            <a:ext cx="1046096" cy="1850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Boiler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E510B3-8AC1-7BFA-9F3E-AFEE5E516C3E}"/>
              </a:ext>
            </a:extLst>
          </p:cNvPr>
          <p:cNvGrpSpPr/>
          <p:nvPr/>
        </p:nvGrpSpPr>
        <p:grpSpPr>
          <a:xfrm>
            <a:off x="5821378" y="2033152"/>
            <a:ext cx="1292925" cy="757473"/>
            <a:chOff x="5828274" y="2793643"/>
            <a:chExt cx="1292925" cy="757473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44B880C1-6A46-AFC8-E3B3-FB7E700A05E8}"/>
                </a:ext>
              </a:extLst>
            </p:cNvPr>
            <p:cNvSpPr/>
            <p:nvPr/>
          </p:nvSpPr>
          <p:spPr>
            <a:xfrm rot="16200000">
              <a:off x="6096000" y="2525917"/>
              <a:ext cx="757473" cy="1292925"/>
            </a:xfrm>
            <a:prstGeom prst="trapezoid">
              <a:avLst>
                <a:gd name="adj" fmla="val 2380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03B18C-33EC-A455-604E-F6B633149D40}"/>
                </a:ext>
              </a:extLst>
            </p:cNvPr>
            <p:cNvSpPr/>
            <p:nvPr/>
          </p:nvSpPr>
          <p:spPr>
            <a:xfrm>
              <a:off x="5975520" y="2929882"/>
              <a:ext cx="1046096" cy="484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HP Turbine</a:t>
              </a:r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3130A53-EABD-3A6D-03D4-F69E2AEC35AE}"/>
              </a:ext>
            </a:extLst>
          </p:cNvPr>
          <p:cNvSpPr/>
          <p:nvPr/>
        </p:nvSpPr>
        <p:spPr>
          <a:xfrm>
            <a:off x="8806635" y="953525"/>
            <a:ext cx="851026" cy="8543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0738CC-0B85-53A3-D578-C4C56D5A805A}"/>
              </a:ext>
            </a:extLst>
          </p:cNvPr>
          <p:cNvSpPr/>
          <p:nvPr/>
        </p:nvSpPr>
        <p:spPr>
          <a:xfrm>
            <a:off x="10104331" y="1927000"/>
            <a:ext cx="570790" cy="484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UAT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462E0F-8233-A82E-A585-7A90905E133A}"/>
              </a:ext>
            </a:extLst>
          </p:cNvPr>
          <p:cNvSpPr/>
          <p:nvPr/>
        </p:nvSpPr>
        <p:spPr>
          <a:xfrm>
            <a:off x="10951973" y="1138326"/>
            <a:ext cx="570790" cy="484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93CFA0-9F17-82FD-8CEB-B08B34B78990}"/>
              </a:ext>
            </a:extLst>
          </p:cNvPr>
          <p:cNvCxnSpPr>
            <a:cxnSpLocks/>
          </p:cNvCxnSpPr>
          <p:nvPr/>
        </p:nvCxnSpPr>
        <p:spPr>
          <a:xfrm>
            <a:off x="226337" y="0"/>
            <a:ext cx="0" cy="685800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716BC2-4CC5-798A-B4C1-D593027E12F0}"/>
              </a:ext>
            </a:extLst>
          </p:cNvPr>
          <p:cNvCxnSpPr>
            <a:cxnSpLocks/>
          </p:cNvCxnSpPr>
          <p:nvPr/>
        </p:nvCxnSpPr>
        <p:spPr>
          <a:xfrm>
            <a:off x="4131976" y="0"/>
            <a:ext cx="0" cy="685800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EE59FC-9EE8-C47D-F42A-611B5422574F}"/>
              </a:ext>
            </a:extLst>
          </p:cNvPr>
          <p:cNvCxnSpPr>
            <a:cxnSpLocks/>
          </p:cNvCxnSpPr>
          <p:nvPr/>
        </p:nvCxnSpPr>
        <p:spPr>
          <a:xfrm>
            <a:off x="9810937" y="0"/>
            <a:ext cx="0" cy="685800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05692C-16AA-1F99-F199-7F6A092BBDE1}"/>
              </a:ext>
            </a:extLst>
          </p:cNvPr>
          <p:cNvCxnSpPr>
            <a:cxnSpLocks/>
          </p:cNvCxnSpPr>
          <p:nvPr/>
        </p:nvCxnSpPr>
        <p:spPr>
          <a:xfrm>
            <a:off x="11774030" y="0"/>
            <a:ext cx="0" cy="6858000"/>
          </a:xfrm>
          <a:prstGeom prst="line">
            <a:avLst/>
          </a:prstGeom>
          <a:ln>
            <a:solidFill>
              <a:srgbClr val="FF0000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1DB7C-307A-DE5C-A969-DCD69F27AECE}"/>
              </a:ext>
            </a:extLst>
          </p:cNvPr>
          <p:cNvCxnSpPr>
            <a:stCxn id="5" idx="0"/>
          </p:cNvCxnSpPr>
          <p:nvPr/>
        </p:nvCxnSpPr>
        <p:spPr>
          <a:xfrm flipV="1">
            <a:off x="3098339" y="1865014"/>
            <a:ext cx="0" cy="102865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CA10E0-C08A-3F7D-B8AE-D9B1E0CD5ED9}"/>
              </a:ext>
            </a:extLst>
          </p:cNvPr>
          <p:cNvCxnSpPr/>
          <p:nvPr/>
        </p:nvCxnSpPr>
        <p:spPr>
          <a:xfrm>
            <a:off x="3098339" y="1855960"/>
            <a:ext cx="2723039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EDFBB-1EA6-1D9F-127A-85213678E557}"/>
              </a:ext>
            </a:extLst>
          </p:cNvPr>
          <p:cNvCxnSpPr/>
          <p:nvPr/>
        </p:nvCxnSpPr>
        <p:spPr>
          <a:xfrm>
            <a:off x="5821378" y="1865014"/>
            <a:ext cx="0" cy="371192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53942D0-8A08-74AA-5EF4-0520AADFAD1D}"/>
              </a:ext>
            </a:extLst>
          </p:cNvPr>
          <p:cNvSpPr/>
          <p:nvPr/>
        </p:nvSpPr>
        <p:spPr>
          <a:xfrm>
            <a:off x="5969169" y="3514690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IP Turbine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D1A457A-4BB5-EBE9-412E-DE46A1AB49BC}"/>
              </a:ext>
            </a:extLst>
          </p:cNvPr>
          <p:cNvGrpSpPr/>
          <p:nvPr/>
        </p:nvGrpSpPr>
        <p:grpSpPr>
          <a:xfrm>
            <a:off x="6390249" y="3409848"/>
            <a:ext cx="1448108" cy="606566"/>
            <a:chOff x="5743786" y="3409848"/>
            <a:chExt cx="1448108" cy="60656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EB0BF73-5736-0568-F9D6-F274C9D7E655}"/>
                </a:ext>
              </a:extLst>
            </p:cNvPr>
            <p:cNvGrpSpPr/>
            <p:nvPr/>
          </p:nvGrpSpPr>
          <p:grpSpPr>
            <a:xfrm>
              <a:off x="5743786" y="3409848"/>
              <a:ext cx="1448108" cy="606566"/>
              <a:chOff x="4647889" y="4843602"/>
              <a:chExt cx="2585850" cy="757474"/>
            </a:xfrm>
          </p:grpSpPr>
          <p:sp>
            <p:nvSpPr>
              <p:cNvPr id="32" name="Trapezoid 31">
                <a:extLst>
                  <a:ext uri="{FF2B5EF4-FFF2-40B4-BE49-F238E27FC236}">
                    <a16:creationId xmlns:a16="http://schemas.microsoft.com/office/drawing/2014/main" id="{5854D84E-27CD-4B05-E0F1-7B0C4EC97160}"/>
                  </a:ext>
                </a:extLst>
              </p:cNvPr>
              <p:cNvSpPr/>
              <p:nvPr/>
            </p:nvSpPr>
            <p:spPr>
              <a:xfrm rot="16200000">
                <a:off x="6208540" y="4575877"/>
                <a:ext cx="757473" cy="1292925"/>
              </a:xfrm>
              <a:prstGeom prst="trapezoid">
                <a:avLst>
                  <a:gd name="adj" fmla="val 2380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Trapezoid 33">
                <a:extLst>
                  <a:ext uri="{FF2B5EF4-FFF2-40B4-BE49-F238E27FC236}">
                    <a16:creationId xmlns:a16="http://schemas.microsoft.com/office/drawing/2014/main" id="{7A547950-3D49-3089-B746-E374D34E8D48}"/>
                  </a:ext>
                </a:extLst>
              </p:cNvPr>
              <p:cNvSpPr/>
              <p:nvPr/>
            </p:nvSpPr>
            <p:spPr>
              <a:xfrm rot="5400000">
                <a:off x="4915615" y="4575876"/>
                <a:ext cx="757473" cy="1292925"/>
              </a:xfrm>
              <a:prstGeom prst="trapezoid">
                <a:avLst>
                  <a:gd name="adj" fmla="val 23805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4852B8C-0EEF-EDAA-9370-54B79E275ED0}"/>
                </a:ext>
              </a:extLst>
            </p:cNvPr>
            <p:cNvSpPr/>
            <p:nvPr/>
          </p:nvSpPr>
          <p:spPr>
            <a:xfrm>
              <a:off x="5968624" y="3472377"/>
              <a:ext cx="1046096" cy="4847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IP Turbine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34BF3B8-522E-EB02-46FB-7D3AA4175E80}"/>
              </a:ext>
            </a:extLst>
          </p:cNvPr>
          <p:cNvGrpSpPr/>
          <p:nvPr/>
        </p:nvGrpSpPr>
        <p:grpSpPr>
          <a:xfrm>
            <a:off x="5355554" y="4663288"/>
            <a:ext cx="1471837" cy="434566"/>
            <a:chOff x="4996002" y="4662535"/>
            <a:chExt cx="1471837" cy="434566"/>
          </a:xfrm>
        </p:grpSpPr>
        <p:sp>
          <p:nvSpPr>
            <p:cNvPr id="41" name="Manual Input 40">
              <a:extLst>
                <a:ext uri="{FF2B5EF4-FFF2-40B4-BE49-F238E27FC236}">
                  <a16:creationId xmlns:a16="http://schemas.microsoft.com/office/drawing/2014/main" id="{5EC3EE06-4113-F11B-0C0C-742476F890C4}"/>
                </a:ext>
              </a:extLst>
            </p:cNvPr>
            <p:cNvSpPr/>
            <p:nvPr/>
          </p:nvSpPr>
          <p:spPr>
            <a:xfrm>
              <a:off x="5743785" y="4662535"/>
              <a:ext cx="724054" cy="434566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Manual Input 41">
              <a:extLst>
                <a:ext uri="{FF2B5EF4-FFF2-40B4-BE49-F238E27FC236}">
                  <a16:creationId xmlns:a16="http://schemas.microsoft.com/office/drawing/2014/main" id="{29434CE3-6603-136A-15D6-0420A32AA33C}"/>
                </a:ext>
              </a:extLst>
            </p:cNvPr>
            <p:cNvSpPr/>
            <p:nvPr/>
          </p:nvSpPr>
          <p:spPr>
            <a:xfrm flipH="1">
              <a:off x="4996002" y="4662535"/>
              <a:ext cx="724054" cy="434566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B9BBE4-1A3F-098D-7B3A-96CD916FBCDB}"/>
              </a:ext>
            </a:extLst>
          </p:cNvPr>
          <p:cNvGrpSpPr/>
          <p:nvPr/>
        </p:nvGrpSpPr>
        <p:grpSpPr>
          <a:xfrm>
            <a:off x="7420667" y="4662535"/>
            <a:ext cx="1471837" cy="434566"/>
            <a:chOff x="4996002" y="4662535"/>
            <a:chExt cx="1471837" cy="434566"/>
          </a:xfrm>
        </p:grpSpPr>
        <p:sp>
          <p:nvSpPr>
            <p:cNvPr id="45" name="Manual Input 44">
              <a:extLst>
                <a:ext uri="{FF2B5EF4-FFF2-40B4-BE49-F238E27FC236}">
                  <a16:creationId xmlns:a16="http://schemas.microsoft.com/office/drawing/2014/main" id="{8F3FB077-D53A-724B-2F60-EDC2C5EDF688}"/>
                </a:ext>
              </a:extLst>
            </p:cNvPr>
            <p:cNvSpPr/>
            <p:nvPr/>
          </p:nvSpPr>
          <p:spPr>
            <a:xfrm>
              <a:off x="5743785" y="4662535"/>
              <a:ext cx="724054" cy="434566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Manual Input 45">
              <a:extLst>
                <a:ext uri="{FF2B5EF4-FFF2-40B4-BE49-F238E27FC236}">
                  <a16:creationId xmlns:a16="http://schemas.microsoft.com/office/drawing/2014/main" id="{66D20BD1-D5F2-E546-5CF9-8C673F6EB0E8}"/>
                </a:ext>
              </a:extLst>
            </p:cNvPr>
            <p:cNvSpPr/>
            <p:nvPr/>
          </p:nvSpPr>
          <p:spPr>
            <a:xfrm flipH="1">
              <a:off x="4996002" y="4662535"/>
              <a:ext cx="724054" cy="434566"/>
            </a:xfrm>
            <a:prstGeom prst="flowChartManualInp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6FC35F7-6592-BCCA-261E-CC8B4A6772A3}"/>
              </a:ext>
            </a:extLst>
          </p:cNvPr>
          <p:cNvSpPr/>
          <p:nvPr/>
        </p:nvSpPr>
        <p:spPr>
          <a:xfrm>
            <a:off x="5379158" y="5460745"/>
            <a:ext cx="1400899" cy="484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Condenser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CED0C0-73EE-CE0F-A6B7-738FE17808BB}"/>
              </a:ext>
            </a:extLst>
          </p:cNvPr>
          <p:cNvSpPr/>
          <p:nvPr/>
        </p:nvSpPr>
        <p:spPr>
          <a:xfrm>
            <a:off x="7444271" y="5460745"/>
            <a:ext cx="1400899" cy="484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Condenser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ABE8284-0A4D-BDBA-F5B5-A68D52D3FD6B}"/>
              </a:ext>
            </a:extLst>
          </p:cNvPr>
          <p:cNvCxnSpPr/>
          <p:nvPr/>
        </p:nvCxnSpPr>
        <p:spPr>
          <a:xfrm flipV="1">
            <a:off x="6390248" y="3154166"/>
            <a:ext cx="0" cy="2423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FE6C00A-2A75-2DA2-301A-39A363DE44C6}"/>
              </a:ext>
            </a:extLst>
          </p:cNvPr>
          <p:cNvCxnSpPr>
            <a:cxnSpLocks/>
          </p:cNvCxnSpPr>
          <p:nvPr/>
        </p:nvCxnSpPr>
        <p:spPr>
          <a:xfrm>
            <a:off x="6096000" y="3154166"/>
            <a:ext cx="0" cy="161743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9BF9043-D477-BA15-B188-B11624C4C7CE}"/>
              </a:ext>
            </a:extLst>
          </p:cNvPr>
          <p:cNvCxnSpPr/>
          <p:nvPr/>
        </p:nvCxnSpPr>
        <p:spPr>
          <a:xfrm>
            <a:off x="6096000" y="3154166"/>
            <a:ext cx="29424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59D15C5-5EC2-120B-D5D5-F0B7F560A3E7}"/>
              </a:ext>
            </a:extLst>
          </p:cNvPr>
          <p:cNvCxnSpPr/>
          <p:nvPr/>
        </p:nvCxnSpPr>
        <p:spPr>
          <a:xfrm flipV="1">
            <a:off x="7838357" y="3167457"/>
            <a:ext cx="0" cy="24239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FA230C2-A2FA-9697-C0CE-F74ED2E1D69B}"/>
              </a:ext>
            </a:extLst>
          </p:cNvPr>
          <p:cNvCxnSpPr>
            <a:cxnSpLocks/>
          </p:cNvCxnSpPr>
          <p:nvPr/>
        </p:nvCxnSpPr>
        <p:spPr>
          <a:xfrm>
            <a:off x="7838357" y="3167457"/>
            <a:ext cx="314118" cy="90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0551DF6-5AB9-47E2-4047-11C7EA9552A9}"/>
              </a:ext>
            </a:extLst>
          </p:cNvPr>
          <p:cNvCxnSpPr>
            <a:cxnSpLocks/>
          </p:cNvCxnSpPr>
          <p:nvPr/>
        </p:nvCxnSpPr>
        <p:spPr>
          <a:xfrm>
            <a:off x="8153773" y="3172272"/>
            <a:ext cx="0" cy="158984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410898F-6F87-BFDC-2842-DEFD11681115}"/>
              </a:ext>
            </a:extLst>
          </p:cNvPr>
          <p:cNvCxnSpPr>
            <a:endCxn id="47" idx="0"/>
          </p:cNvCxnSpPr>
          <p:nvPr/>
        </p:nvCxnSpPr>
        <p:spPr>
          <a:xfrm>
            <a:off x="6079607" y="5097101"/>
            <a:ext cx="1" cy="36364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F51D896-8E32-EBB5-6916-0D6E282577C8}"/>
              </a:ext>
            </a:extLst>
          </p:cNvPr>
          <p:cNvCxnSpPr/>
          <p:nvPr/>
        </p:nvCxnSpPr>
        <p:spPr>
          <a:xfrm>
            <a:off x="8152056" y="5097101"/>
            <a:ext cx="1" cy="36364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342F1E1-BAC5-D02B-7456-4ED76882292C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098339" y="4744015"/>
            <a:ext cx="0" cy="16024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9776EB7-CE55-505F-B317-2168267A27D2}"/>
              </a:ext>
            </a:extLst>
          </p:cNvPr>
          <p:cNvCxnSpPr>
            <a:cxnSpLocks/>
          </p:cNvCxnSpPr>
          <p:nvPr/>
        </p:nvCxnSpPr>
        <p:spPr>
          <a:xfrm>
            <a:off x="3098339" y="6346479"/>
            <a:ext cx="504638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F4AE5AF-52D9-0045-5330-59C3739251A4}"/>
              </a:ext>
            </a:extLst>
          </p:cNvPr>
          <p:cNvCxnSpPr>
            <a:cxnSpLocks/>
          </p:cNvCxnSpPr>
          <p:nvPr/>
        </p:nvCxnSpPr>
        <p:spPr>
          <a:xfrm flipV="1">
            <a:off x="8144720" y="5945526"/>
            <a:ext cx="7336" cy="4009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F797F21-50AC-859F-ABE9-B0CA4063F5D5}"/>
              </a:ext>
            </a:extLst>
          </p:cNvPr>
          <p:cNvCxnSpPr>
            <a:cxnSpLocks/>
          </p:cNvCxnSpPr>
          <p:nvPr/>
        </p:nvCxnSpPr>
        <p:spPr>
          <a:xfrm flipV="1">
            <a:off x="6079607" y="5945526"/>
            <a:ext cx="7336" cy="4009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AEC42FE-F53A-428A-A06D-A4A39E02BDD0}"/>
              </a:ext>
            </a:extLst>
          </p:cNvPr>
          <p:cNvCxnSpPr>
            <a:cxnSpLocks/>
            <a:stCxn id="9" idx="2"/>
          </p:cNvCxnSpPr>
          <p:nvPr/>
        </p:nvCxnSpPr>
        <p:spPr>
          <a:xfrm flipV="1">
            <a:off x="7114303" y="2406723"/>
            <a:ext cx="2117845" cy="516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35B96CB-489B-A1CC-7514-0DA9670E5B9A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9232148" y="1807910"/>
            <a:ext cx="0" cy="307190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A3424E9-94FE-A0AA-DA83-8B1D98912CF7}"/>
              </a:ext>
            </a:extLst>
          </p:cNvPr>
          <p:cNvCxnSpPr>
            <a:cxnSpLocks/>
            <a:stCxn id="41" idx="3"/>
            <a:endCxn id="46" idx="3"/>
          </p:cNvCxnSpPr>
          <p:nvPr/>
        </p:nvCxnSpPr>
        <p:spPr>
          <a:xfrm flipV="1">
            <a:off x="6827391" y="4879818"/>
            <a:ext cx="593276" cy="75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6D32BB4-EA07-E5A3-5DD2-645F56EB5FA6}"/>
              </a:ext>
            </a:extLst>
          </p:cNvPr>
          <p:cNvCxnSpPr>
            <a:cxnSpLocks/>
          </p:cNvCxnSpPr>
          <p:nvPr/>
        </p:nvCxnSpPr>
        <p:spPr>
          <a:xfrm>
            <a:off x="8900192" y="4886390"/>
            <a:ext cx="33195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9064289-74A4-89BA-A076-4AAB904C2834}"/>
              </a:ext>
            </a:extLst>
          </p:cNvPr>
          <p:cNvCxnSpPr>
            <a:cxnSpLocks/>
          </p:cNvCxnSpPr>
          <p:nvPr/>
        </p:nvCxnSpPr>
        <p:spPr>
          <a:xfrm>
            <a:off x="7829438" y="3753090"/>
            <a:ext cx="1402710" cy="399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8F17DE8-4932-CAEA-2750-859C5FD5D92F}"/>
              </a:ext>
            </a:extLst>
          </p:cNvPr>
          <p:cNvSpPr/>
          <p:nvPr/>
        </p:nvSpPr>
        <p:spPr>
          <a:xfrm>
            <a:off x="5581211" y="4676301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LP Turbine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54908D2-E9C2-3494-FB82-041612A62E4B}"/>
              </a:ext>
            </a:extLst>
          </p:cNvPr>
          <p:cNvSpPr/>
          <p:nvPr/>
        </p:nvSpPr>
        <p:spPr>
          <a:xfrm>
            <a:off x="7629008" y="4682822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LP Turbine</a:t>
            </a:r>
          </a:p>
        </p:txBody>
      </p:sp>
      <p:sp>
        <p:nvSpPr>
          <p:cNvPr id="98" name="Striped Right Arrow 97">
            <a:extLst>
              <a:ext uri="{FF2B5EF4-FFF2-40B4-BE49-F238E27FC236}">
                <a16:creationId xmlns:a16="http://schemas.microsoft.com/office/drawing/2014/main" id="{C33AF91B-D2B5-19D7-CBFB-9A8004049F41}"/>
              </a:ext>
            </a:extLst>
          </p:cNvPr>
          <p:cNvSpPr/>
          <p:nvPr/>
        </p:nvSpPr>
        <p:spPr>
          <a:xfrm>
            <a:off x="878395" y="4237023"/>
            <a:ext cx="1688051" cy="425512"/>
          </a:xfrm>
          <a:prstGeom prst="striped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Coal</a:t>
            </a:r>
          </a:p>
        </p:txBody>
      </p:sp>
      <p:sp>
        <p:nvSpPr>
          <p:cNvPr id="99" name="Striped Right Arrow 98">
            <a:extLst>
              <a:ext uri="{FF2B5EF4-FFF2-40B4-BE49-F238E27FC236}">
                <a16:creationId xmlns:a16="http://schemas.microsoft.com/office/drawing/2014/main" id="{17DD4746-263D-D12F-11D5-02F34E3D8FB5}"/>
              </a:ext>
            </a:extLst>
          </p:cNvPr>
          <p:cNvSpPr/>
          <p:nvPr/>
        </p:nvSpPr>
        <p:spPr>
          <a:xfrm>
            <a:off x="2056053" y="3573959"/>
            <a:ext cx="517204" cy="425512"/>
          </a:xfrm>
          <a:prstGeom prst="strip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C4C7A04-BED0-3F7E-E3C6-9460B6078651}"/>
              </a:ext>
            </a:extLst>
          </p:cNvPr>
          <p:cNvSpPr/>
          <p:nvPr/>
        </p:nvSpPr>
        <p:spPr>
          <a:xfrm>
            <a:off x="451177" y="3684681"/>
            <a:ext cx="1002985" cy="19925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Air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921E076-0479-10BD-F9DB-916F1126373D}"/>
              </a:ext>
            </a:extLst>
          </p:cNvPr>
          <p:cNvSpPr/>
          <p:nvPr/>
        </p:nvSpPr>
        <p:spPr>
          <a:xfrm>
            <a:off x="2072445" y="3067829"/>
            <a:ext cx="502845" cy="2162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Bent-Up Arrow 101">
            <a:extLst>
              <a:ext uri="{FF2B5EF4-FFF2-40B4-BE49-F238E27FC236}">
                <a16:creationId xmlns:a16="http://schemas.microsoft.com/office/drawing/2014/main" id="{792668F8-E0A4-6228-661E-E15BA9CC884E}"/>
              </a:ext>
            </a:extLst>
          </p:cNvPr>
          <p:cNvSpPr/>
          <p:nvPr/>
        </p:nvSpPr>
        <p:spPr>
          <a:xfrm flipH="1">
            <a:off x="506629" y="2538738"/>
            <a:ext cx="949262" cy="745303"/>
          </a:xfrm>
          <a:prstGeom prst="bentUp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6EB5DCE-C0EB-0888-EC06-591C4D34DF8C}"/>
              </a:ext>
            </a:extLst>
          </p:cNvPr>
          <p:cNvSpPr/>
          <p:nvPr/>
        </p:nvSpPr>
        <p:spPr>
          <a:xfrm>
            <a:off x="195664" y="2147577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Fluegas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85636B8-050F-0415-07C8-33E7C4BE9428}"/>
              </a:ext>
            </a:extLst>
          </p:cNvPr>
          <p:cNvSpPr/>
          <p:nvPr/>
        </p:nvSpPr>
        <p:spPr>
          <a:xfrm>
            <a:off x="2935254" y="1767174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Steam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5BD4061-0EB3-A7EB-2452-9C3C0913B08D}"/>
              </a:ext>
            </a:extLst>
          </p:cNvPr>
          <p:cNvCxnSpPr/>
          <p:nvPr/>
        </p:nvCxnSpPr>
        <p:spPr>
          <a:xfrm>
            <a:off x="7114302" y="2790625"/>
            <a:ext cx="0" cy="12076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49A6D13-E28A-1EC5-C85E-27E7F3B78E89}"/>
              </a:ext>
            </a:extLst>
          </p:cNvPr>
          <p:cNvCxnSpPr/>
          <p:nvPr/>
        </p:nvCxnSpPr>
        <p:spPr>
          <a:xfrm flipH="1" flipV="1">
            <a:off x="3965418" y="2893670"/>
            <a:ext cx="3148884" cy="177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C96D51C-9A68-4934-4C64-C562467DF8DC}"/>
              </a:ext>
            </a:extLst>
          </p:cNvPr>
          <p:cNvCxnSpPr/>
          <p:nvPr/>
        </p:nvCxnSpPr>
        <p:spPr>
          <a:xfrm>
            <a:off x="3959385" y="2894542"/>
            <a:ext cx="0" cy="47299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3E16D33D-C9DF-E7A4-A2E0-4A24359B0001}"/>
              </a:ext>
            </a:extLst>
          </p:cNvPr>
          <p:cNvCxnSpPr/>
          <p:nvPr/>
        </p:nvCxnSpPr>
        <p:spPr>
          <a:xfrm flipH="1">
            <a:off x="3621387" y="3352917"/>
            <a:ext cx="34403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127E86A-D234-5CBE-55AD-C00495D6B134}"/>
              </a:ext>
            </a:extLst>
          </p:cNvPr>
          <p:cNvCxnSpPr/>
          <p:nvPr/>
        </p:nvCxnSpPr>
        <p:spPr>
          <a:xfrm>
            <a:off x="3621387" y="4237023"/>
            <a:ext cx="97777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B40A8D5-CD18-77D5-F55B-B2A45290E22A}"/>
              </a:ext>
            </a:extLst>
          </p:cNvPr>
          <p:cNvCxnSpPr>
            <a:cxnSpLocks/>
          </p:cNvCxnSpPr>
          <p:nvPr/>
        </p:nvCxnSpPr>
        <p:spPr>
          <a:xfrm>
            <a:off x="4599160" y="2996697"/>
            <a:ext cx="0" cy="124032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FF430EC-7939-74B6-91D0-E64DAA15AFC4}"/>
              </a:ext>
            </a:extLst>
          </p:cNvPr>
          <p:cNvCxnSpPr>
            <a:cxnSpLocks/>
          </p:cNvCxnSpPr>
          <p:nvPr/>
        </p:nvCxnSpPr>
        <p:spPr>
          <a:xfrm flipH="1" flipV="1">
            <a:off x="4585779" y="3000035"/>
            <a:ext cx="2548999" cy="1702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CCED53A-36BE-6080-97D8-6D8EB00636B9}"/>
              </a:ext>
            </a:extLst>
          </p:cNvPr>
          <p:cNvCxnSpPr>
            <a:cxnSpLocks/>
          </p:cNvCxnSpPr>
          <p:nvPr/>
        </p:nvCxnSpPr>
        <p:spPr>
          <a:xfrm>
            <a:off x="7134778" y="3015195"/>
            <a:ext cx="0" cy="55352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B322E8A-3D4B-6AAB-BD2A-54E890D6B3AE}"/>
              </a:ext>
            </a:extLst>
          </p:cNvPr>
          <p:cNvSpPr/>
          <p:nvPr/>
        </p:nvSpPr>
        <p:spPr>
          <a:xfrm>
            <a:off x="3085880" y="5945526"/>
            <a:ext cx="1046096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Feedwater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7CD64E31-0957-0472-CDF1-08361DD1565B}"/>
              </a:ext>
            </a:extLst>
          </p:cNvPr>
          <p:cNvCxnSpPr>
            <a:stCxn id="12" idx="6"/>
            <a:endCxn id="14" idx="1"/>
          </p:cNvCxnSpPr>
          <p:nvPr/>
        </p:nvCxnSpPr>
        <p:spPr>
          <a:xfrm flipV="1">
            <a:off x="9657661" y="1380717"/>
            <a:ext cx="1294312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165F6DE3-84E1-CEC6-061B-AE842608AE0E}"/>
              </a:ext>
            </a:extLst>
          </p:cNvPr>
          <p:cNvCxnSpPr>
            <a:endCxn id="13" idx="0"/>
          </p:cNvCxnSpPr>
          <p:nvPr/>
        </p:nvCxnSpPr>
        <p:spPr>
          <a:xfrm>
            <a:off x="10389726" y="1380716"/>
            <a:ext cx="0" cy="5462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D2DECD39-A4A0-A607-EC80-E7DCC526A6EB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9810937" y="2169391"/>
            <a:ext cx="29339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1E906424-139B-2FBF-D151-30C56C5AF51B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1522763" y="1380716"/>
            <a:ext cx="548254" cy="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B57D0B5-3854-8218-E3B5-29F6E1672811}"/>
              </a:ext>
            </a:extLst>
          </p:cNvPr>
          <p:cNvCxnSpPr/>
          <p:nvPr/>
        </p:nvCxnSpPr>
        <p:spPr>
          <a:xfrm>
            <a:off x="226337" y="1138326"/>
            <a:ext cx="39056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0A28D96-578E-4E2E-B3CB-41573F4F0902}"/>
              </a:ext>
            </a:extLst>
          </p:cNvPr>
          <p:cNvSpPr/>
          <p:nvPr/>
        </p:nvSpPr>
        <p:spPr>
          <a:xfrm>
            <a:off x="1443431" y="995879"/>
            <a:ext cx="1474061" cy="28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Boiler Efficiency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665FB36-583A-0CD8-EB7D-41434548BCF8}"/>
              </a:ext>
            </a:extLst>
          </p:cNvPr>
          <p:cNvCxnSpPr>
            <a:cxnSpLocks/>
          </p:cNvCxnSpPr>
          <p:nvPr/>
        </p:nvCxnSpPr>
        <p:spPr>
          <a:xfrm>
            <a:off x="4146342" y="901298"/>
            <a:ext cx="56768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4A610A9-EABA-5AF1-2CF2-DF44325D2A7A}"/>
              </a:ext>
            </a:extLst>
          </p:cNvPr>
          <p:cNvSpPr/>
          <p:nvPr/>
        </p:nvSpPr>
        <p:spPr>
          <a:xfrm>
            <a:off x="5852675" y="765177"/>
            <a:ext cx="774632" cy="28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GTHR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6B72FEE-2776-5C3D-B31F-AE21168FAE1D}"/>
              </a:ext>
            </a:extLst>
          </p:cNvPr>
          <p:cNvCxnSpPr>
            <a:cxnSpLocks/>
          </p:cNvCxnSpPr>
          <p:nvPr/>
        </p:nvCxnSpPr>
        <p:spPr>
          <a:xfrm>
            <a:off x="4151297" y="667925"/>
            <a:ext cx="76420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C362FD-DE8B-377B-481F-584B5220E95E}"/>
              </a:ext>
            </a:extLst>
          </p:cNvPr>
          <p:cNvSpPr/>
          <p:nvPr/>
        </p:nvSpPr>
        <p:spPr>
          <a:xfrm>
            <a:off x="7669620" y="525157"/>
            <a:ext cx="774632" cy="28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NTHR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83F74E45-F5CB-6122-61FC-FC2129EEFA3F}"/>
              </a:ext>
            </a:extLst>
          </p:cNvPr>
          <p:cNvCxnSpPr>
            <a:cxnSpLocks/>
          </p:cNvCxnSpPr>
          <p:nvPr/>
        </p:nvCxnSpPr>
        <p:spPr>
          <a:xfrm>
            <a:off x="207017" y="434553"/>
            <a:ext cx="9610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50CA8BF4-CE49-8446-55AF-0971B8933841}"/>
              </a:ext>
            </a:extLst>
          </p:cNvPr>
          <p:cNvSpPr/>
          <p:nvPr/>
        </p:nvSpPr>
        <p:spPr>
          <a:xfrm>
            <a:off x="4858336" y="290598"/>
            <a:ext cx="774632" cy="28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GPHR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AA215B4B-EAE5-1CAF-C3A0-BA4E0AEE929E}"/>
              </a:ext>
            </a:extLst>
          </p:cNvPr>
          <p:cNvCxnSpPr>
            <a:cxnSpLocks/>
          </p:cNvCxnSpPr>
          <p:nvPr/>
        </p:nvCxnSpPr>
        <p:spPr>
          <a:xfrm>
            <a:off x="226337" y="188507"/>
            <a:ext cx="115567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E9C177C-2FC6-F8F8-066E-FD05ACFFE364}"/>
              </a:ext>
            </a:extLst>
          </p:cNvPr>
          <p:cNvSpPr/>
          <p:nvPr/>
        </p:nvSpPr>
        <p:spPr>
          <a:xfrm>
            <a:off x="6192313" y="43763"/>
            <a:ext cx="774632" cy="2848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NPHR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E35CA27-61EF-5477-3C06-62FECE0A2AD4}"/>
              </a:ext>
            </a:extLst>
          </p:cNvPr>
          <p:cNvSpPr/>
          <p:nvPr/>
        </p:nvSpPr>
        <p:spPr>
          <a:xfrm>
            <a:off x="4492130" y="2484785"/>
            <a:ext cx="1270601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Cold Reheat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FC83D39-3B57-63C7-0D26-4EBBCDB9CAFE}"/>
              </a:ext>
            </a:extLst>
          </p:cNvPr>
          <p:cNvSpPr/>
          <p:nvPr/>
        </p:nvSpPr>
        <p:spPr>
          <a:xfrm>
            <a:off x="4644966" y="2963308"/>
            <a:ext cx="1270601" cy="484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Hot Reheat</a:t>
            </a:r>
          </a:p>
        </p:txBody>
      </p:sp>
    </p:spTree>
    <p:extLst>
      <p:ext uri="{BB962C8B-B14F-4D97-AF65-F5344CB8AC3E}">
        <p14:creationId xmlns:p14="http://schemas.microsoft.com/office/powerpoint/2010/main" val="221640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BDB82-5540-64C1-B355-353BD070B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3" b="2858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0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351182-944A-73AD-75E5-B84E0ECE9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9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A92F0B-38E6-E838-48F2-DF79830B2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31" y="643466"/>
            <a:ext cx="936313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6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219</Words>
  <Application>Microsoft Macintosh PowerPoint</Application>
  <PresentationFormat>Widescreen</PresentationFormat>
  <Paragraphs>32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Ainal Irham</dc:creator>
  <cp:lastModifiedBy>Ainal Irham</cp:lastModifiedBy>
  <cp:revision>15</cp:revision>
  <dcterms:created xsi:type="dcterms:W3CDTF">2026-04-13T08:24:49Z</dcterms:created>
  <dcterms:modified xsi:type="dcterms:W3CDTF">2026-04-17T15:58:42Z</dcterms:modified>
</cp:coreProperties>
</file>